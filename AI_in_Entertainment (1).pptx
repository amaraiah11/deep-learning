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2A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480560"/>
            <a:ext cx="2743200" cy="2743200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2A1B4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MACHINE INTELLIGENCE IS RESHAPING MEDIA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7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Entertainment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 •  YouTube  •  Spotify  •  Gaming  •  Recommendation Engines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777240" cy="777240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9" name="Image 0" descr="/home/claude/aient/icon_netfl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4903470"/>
            <a:ext cx="388620" cy="3886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691640" y="4709160"/>
            <a:ext cx="777240" cy="777240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11" name="Image 1" descr="/home/claude/aient/icon_youtu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0" y="4903470"/>
            <a:ext cx="388620" cy="3886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43200" y="4709160"/>
            <a:ext cx="777240" cy="777240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13" name="Image 2" descr="/home/claude/aient/icon_spotif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510" y="4903470"/>
            <a:ext cx="388620" cy="3886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794760" y="4709160"/>
            <a:ext cx="777240" cy="777240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15" name="Image 3" descr="/home/claude/aient/icon_gam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9070" y="4903470"/>
            <a:ext cx="388620" cy="3886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08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ten-part briefing on how AI systems personalize, generate, and power modern entertainment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A1B4D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D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2331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67004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rows, thumbnails &amp; churn prediction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2103120"/>
            <a:ext cx="502920" cy="502920"/>
          </a:xfrm>
          <a:prstGeom prst="ellipse">
            <a:avLst/>
          </a:prstGeom>
          <a:solidFill>
            <a:srgbClr val="F1ECFB"/>
          </a:solidFill>
          <a:ln/>
        </p:spPr>
      </p:sp>
      <p:pic>
        <p:nvPicPr>
          <p:cNvPr id="9" name="Image 0" descr="/home/claude/aient/icon_netflix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9010" y="2228850"/>
            <a:ext cx="251460" cy="2514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80560" y="182880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A1B4D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81728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D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681728" y="2331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81728" y="267004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engine behind watch time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15200" y="2103120"/>
            <a:ext cx="502920" cy="502920"/>
          </a:xfrm>
          <a:prstGeom prst="ellipse">
            <a:avLst/>
          </a:prstGeom>
          <a:solidFill>
            <a:srgbClr val="F1ECFB"/>
          </a:solidFill>
          <a:ln/>
        </p:spPr>
      </p:sp>
      <p:pic>
        <p:nvPicPr>
          <p:cNvPr id="15" name="Image 1" descr="/home/claude/aient/icon_youtub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930" y="2228850"/>
            <a:ext cx="251460" cy="2514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412480" y="182880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A1B4D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13648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D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8613648" y="2331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613648" y="267004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Weekly and audio-driven personalization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11247120" y="2103120"/>
            <a:ext cx="502920" cy="502920"/>
          </a:xfrm>
          <a:prstGeom prst="ellipse">
            <a:avLst/>
          </a:prstGeom>
          <a:solidFill>
            <a:srgbClr val="F1ECFB"/>
          </a:solidFill>
          <a:ln/>
        </p:spPr>
      </p:sp>
      <p:pic>
        <p:nvPicPr>
          <p:cNvPr id="21" name="Image 2" descr="/home/claude/aient/icon_spotify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2850" y="2228850"/>
            <a:ext cx="251460" cy="25146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8640" y="352044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A1B4D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49808" y="3657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D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749808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749808" y="43616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NPCs, procedural worlds &amp; adaptive difficulty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3383280" y="3794760"/>
            <a:ext cx="502920" cy="502920"/>
          </a:xfrm>
          <a:prstGeom prst="ellipse">
            <a:avLst/>
          </a:prstGeom>
          <a:solidFill>
            <a:srgbClr val="F1ECFB"/>
          </a:solidFill>
          <a:ln/>
        </p:spPr>
      </p:sp>
      <p:pic>
        <p:nvPicPr>
          <p:cNvPr id="27" name="Image 3" descr="/home/claude/aient/icon_gaming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010" y="3920490"/>
            <a:ext cx="251460" cy="25146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480560" y="352044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A1B4D">
                <a:alpha val="1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4681728" y="3657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D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4681728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4681728" y="43616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engine behind every "for you" feed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7315200" y="3794760"/>
            <a:ext cx="502920" cy="502920"/>
          </a:xfrm>
          <a:prstGeom prst="ellipse">
            <a:avLst/>
          </a:prstGeom>
          <a:solidFill>
            <a:srgbClr val="F1ECFB"/>
          </a:solidFill>
          <a:ln/>
        </p:spPr>
      </p:sp>
      <p:pic>
        <p:nvPicPr>
          <p:cNvPr id="33" name="Image 4" descr="/home/claude/aient/icon_robot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0930" y="3920490"/>
            <a:ext cx="251460" cy="25146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8412480" y="352044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2A1B4D">
                <a:alpha val="18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8613648" y="3657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DC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6" name="Text 29"/>
          <p:cNvSpPr/>
          <p:nvPr/>
        </p:nvSpPr>
        <p:spPr>
          <a:xfrm>
            <a:off x="8613648" y="40233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8613648" y="43616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concerns &amp; the road ahead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11247120" y="3794760"/>
            <a:ext cx="502920" cy="502920"/>
          </a:xfrm>
          <a:prstGeom prst="ellipse">
            <a:avLst/>
          </a:prstGeom>
          <a:solidFill>
            <a:srgbClr val="F1ECFB"/>
          </a:solidFill>
          <a:ln/>
        </p:spPr>
      </p:sp>
      <p:pic>
        <p:nvPicPr>
          <p:cNvPr id="39" name="Image 5" descr="/home/claude/aient/icon_chart_d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2850" y="3920490"/>
            <a:ext cx="251460" cy="2514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2A1B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Netflix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decides what 300M+ members see first — from row order to the thumbnail itself.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86584"/>
            <a:ext cx="109728" cy="10972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2199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rows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homepage is algorithmically ranked — no two members see the same layout.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46704"/>
            <a:ext cx="109728" cy="10972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18211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thumbnails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49300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selects the artwork per viewer most likely to earn a click.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06824"/>
            <a:ext cx="109728" cy="109728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4223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453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Viewing-pattern models flag disengaged accounts before cancellation.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06840" y="2377440"/>
            <a:ext cx="1554480" cy="1554480"/>
          </a:xfrm>
          <a:prstGeom prst="ellipse">
            <a:avLst/>
          </a:prstGeom>
          <a:solidFill>
            <a:srgbClr val="141122"/>
          </a:solidFill>
          <a:ln/>
        </p:spPr>
      </p:sp>
      <p:pic>
        <p:nvPicPr>
          <p:cNvPr id="16" name="Image 0" descr="/home/claude/aient/icon_netfl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5460" y="2766060"/>
            <a:ext cx="777240" cy="7772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321040" y="42976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4600" dirty="0"/>
          </a:p>
        </p:txBody>
      </p:sp>
      <p:sp>
        <p:nvSpPr>
          <p:cNvPr id="18" name="Text 15"/>
          <p:cNvSpPr/>
          <p:nvPr/>
        </p:nvSpPr>
        <p:spPr>
          <a:xfrm>
            <a:off x="8412480" y="5074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viewing hours originate from an algorithmic recommendation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1122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2651760"/>
            <a:ext cx="1371600" cy="1371600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4" name="Image 0" descr="/home/claude/aient/icon_youtu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220" y="299466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297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02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0" y="68580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for watch time, not just clicks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4572000" y="173736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A1B4D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0600" y="19202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ranking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800600" y="233172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deep-learning model scores billions of video-viewer pairs to build "Up Next".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92440" y="173736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A1B4D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321040" y="19202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optimization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321040" y="233172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predicts what keeps a viewer watching, not just what earns one click.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0" y="393192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A1B4D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00600" y="41148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signals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800600" y="452628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curves and click-through data feed back into future rankings.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92440" y="393192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A1B4D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321040" y="41148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321040" y="452628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flag policy-violating or unsafe uploads at upload-time scale.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Spotify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fingerprints and listening behavior combine to soundtrack 600M+ individual ears.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66928" cy="566928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6" name="Image 0" descr="/home/claude/aient/icon_w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4734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231343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Weekly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80160" y="262432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compares your taste graph to millions of listeners with similar habits.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566160"/>
            <a:ext cx="566928" cy="566928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10" name="Image 1" descr="/home/claude/aient/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370789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354787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analysis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80160" y="385876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read tempo, energy and mood directly from the waveform, not just metadata.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800600"/>
            <a:ext cx="566928" cy="566928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14" name="Image 2" descr="/home/claude/aient/icon_spark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94233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78231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DJ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280160" y="509320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generative voice blends commentary with a live-tuned queue based on real-time skips.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229600" y="4937760"/>
            <a:ext cx="201168" cy="822960"/>
          </a:xfrm>
          <a:prstGeom prst="roundRect">
            <a:avLst>
              <a:gd name="adj" fmla="val 22727"/>
            </a:avLst>
          </a:prstGeom>
          <a:solidFill>
            <a:srgbClr val="FFC857"/>
          </a:solidFill>
          <a:ln/>
        </p:spPr>
      </p:sp>
      <p:sp>
        <p:nvSpPr>
          <p:cNvPr id="18" name="Shape 13"/>
          <p:cNvSpPr/>
          <p:nvPr/>
        </p:nvSpPr>
        <p:spPr>
          <a:xfrm>
            <a:off x="8549640" y="4297680"/>
            <a:ext cx="201168" cy="1463040"/>
          </a:xfrm>
          <a:prstGeom prst="roundRect">
            <a:avLst>
              <a:gd name="adj" fmla="val 22727"/>
            </a:avLst>
          </a:prstGeom>
          <a:solidFill>
            <a:srgbClr val="2A1B4D"/>
          </a:solidFill>
          <a:ln/>
        </p:spPr>
      </p:sp>
      <p:sp>
        <p:nvSpPr>
          <p:cNvPr id="19" name="Shape 14"/>
          <p:cNvSpPr/>
          <p:nvPr/>
        </p:nvSpPr>
        <p:spPr>
          <a:xfrm>
            <a:off x="8869680" y="3383280"/>
            <a:ext cx="201168" cy="2377440"/>
          </a:xfrm>
          <a:prstGeom prst="roundRect">
            <a:avLst>
              <a:gd name="adj" fmla="val 22727"/>
            </a:avLst>
          </a:prstGeom>
          <a:solidFill>
            <a:srgbClr val="FF4D6D"/>
          </a:solidFill>
          <a:ln/>
        </p:spPr>
      </p:sp>
      <p:sp>
        <p:nvSpPr>
          <p:cNvPr id="20" name="Shape 15"/>
          <p:cNvSpPr/>
          <p:nvPr/>
        </p:nvSpPr>
        <p:spPr>
          <a:xfrm>
            <a:off x="9189720" y="4023360"/>
            <a:ext cx="201168" cy="1737360"/>
          </a:xfrm>
          <a:prstGeom prst="roundRect">
            <a:avLst>
              <a:gd name="adj" fmla="val 22727"/>
            </a:avLst>
          </a:prstGeom>
          <a:solidFill>
            <a:srgbClr val="FFC857"/>
          </a:solidFill>
          <a:ln/>
        </p:spPr>
      </p:sp>
      <p:sp>
        <p:nvSpPr>
          <p:cNvPr id="21" name="Shape 16"/>
          <p:cNvSpPr/>
          <p:nvPr/>
        </p:nvSpPr>
        <p:spPr>
          <a:xfrm>
            <a:off x="9509760" y="2834640"/>
            <a:ext cx="201168" cy="2926080"/>
          </a:xfrm>
          <a:prstGeom prst="roundRect">
            <a:avLst>
              <a:gd name="adj" fmla="val 22727"/>
            </a:avLst>
          </a:prstGeom>
          <a:solidFill>
            <a:srgbClr val="FF4D6D"/>
          </a:solidFill>
          <a:ln/>
        </p:spPr>
      </p:sp>
      <p:sp>
        <p:nvSpPr>
          <p:cNvPr id="22" name="Shape 17"/>
          <p:cNvSpPr/>
          <p:nvPr/>
        </p:nvSpPr>
        <p:spPr>
          <a:xfrm>
            <a:off x="9829800" y="3840480"/>
            <a:ext cx="201168" cy="1920240"/>
          </a:xfrm>
          <a:prstGeom prst="roundRect">
            <a:avLst>
              <a:gd name="adj" fmla="val 22727"/>
            </a:avLst>
          </a:prstGeom>
          <a:solidFill>
            <a:srgbClr val="2A1B4D"/>
          </a:solidFill>
          <a:ln/>
        </p:spPr>
      </p:sp>
      <p:sp>
        <p:nvSpPr>
          <p:cNvPr id="23" name="Shape 18"/>
          <p:cNvSpPr/>
          <p:nvPr/>
        </p:nvSpPr>
        <p:spPr>
          <a:xfrm>
            <a:off x="10149840" y="4480560"/>
            <a:ext cx="201168" cy="1280160"/>
          </a:xfrm>
          <a:prstGeom prst="roundRect">
            <a:avLst>
              <a:gd name="adj" fmla="val 22727"/>
            </a:avLst>
          </a:prstGeom>
          <a:solidFill>
            <a:srgbClr val="FFC85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469880" y="3200400"/>
            <a:ext cx="201168" cy="2560320"/>
          </a:xfrm>
          <a:prstGeom prst="roundRect">
            <a:avLst>
              <a:gd name="adj" fmla="val 22727"/>
            </a:avLst>
          </a:prstGeom>
          <a:solidFill>
            <a:srgbClr val="2A1B4D"/>
          </a:solidFill>
          <a:ln/>
        </p:spPr>
      </p:sp>
      <p:sp>
        <p:nvSpPr>
          <p:cNvPr id="25" name="Shape 20"/>
          <p:cNvSpPr/>
          <p:nvPr/>
        </p:nvSpPr>
        <p:spPr>
          <a:xfrm>
            <a:off x="10789920" y="4206240"/>
            <a:ext cx="201168" cy="1554480"/>
          </a:xfrm>
          <a:prstGeom prst="roundRect">
            <a:avLst>
              <a:gd name="adj" fmla="val 22727"/>
            </a:avLst>
          </a:prstGeom>
          <a:solidFill>
            <a:srgbClr val="FF4D6D"/>
          </a:solidFill>
          <a:ln/>
        </p:spPr>
      </p:sp>
      <p:sp>
        <p:nvSpPr>
          <p:cNvPr id="26" name="Shape 21"/>
          <p:cNvSpPr/>
          <p:nvPr/>
        </p:nvSpPr>
        <p:spPr>
          <a:xfrm>
            <a:off x="11109960" y="4937760"/>
            <a:ext cx="201168" cy="822960"/>
          </a:xfrm>
          <a:prstGeom prst="roundRect">
            <a:avLst>
              <a:gd name="adj" fmla="val 22727"/>
            </a:avLst>
          </a:prstGeom>
          <a:solidFill>
            <a:srgbClr val="FFC857"/>
          </a:solidFill>
          <a:ln/>
        </p:spPr>
      </p:sp>
      <p:sp>
        <p:nvSpPr>
          <p:cNvPr id="27" name="Shape 22"/>
          <p:cNvSpPr/>
          <p:nvPr/>
        </p:nvSpPr>
        <p:spPr>
          <a:xfrm>
            <a:off x="11430000" y="3749040"/>
            <a:ext cx="201168" cy="2011680"/>
          </a:xfrm>
          <a:prstGeom prst="roundRect">
            <a:avLst>
              <a:gd name="adj" fmla="val 22727"/>
            </a:avLst>
          </a:prstGeom>
          <a:solidFill>
            <a:srgbClr val="FF4D6D"/>
          </a:solidFill>
          <a:ln/>
        </p:spPr>
      </p:sp>
      <p:sp>
        <p:nvSpPr>
          <p:cNvPr id="28" name="Shape 23"/>
          <p:cNvSpPr/>
          <p:nvPr/>
        </p:nvSpPr>
        <p:spPr>
          <a:xfrm>
            <a:off x="11750040" y="4663440"/>
            <a:ext cx="201168" cy="1097280"/>
          </a:xfrm>
          <a:prstGeom prst="roundRect">
            <a:avLst>
              <a:gd name="adj" fmla="val 22727"/>
            </a:avLst>
          </a:prstGeom>
          <a:solidFill>
            <a:srgbClr val="2A1B4D"/>
          </a:solidFill>
          <a:ln/>
        </p:spPr>
      </p:sp>
      <p:sp>
        <p:nvSpPr>
          <p:cNvPr id="29" name="Text 24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now builds worlds, drives characters, and tunes the challenge to each player in real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2A1B4D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624328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difficulty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94436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performance is tracked live to keep challenge in the "flow" zone.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80760" y="251460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2A1B4D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2624328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generation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294436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build maps, quests and loot so no two playthroughs match.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730752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2A1B4D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8404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NPCs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41605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trees and ML give non-player characters more believable reactions.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3730752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2A1B4D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38404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Anti-cheat detection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9360" y="41605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Pattern-recognition models flag aimbots and exploits mid-match.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064240" y="822960"/>
            <a:ext cx="685800" cy="685800"/>
          </a:xfrm>
          <a:prstGeom prst="ellipse">
            <a:avLst/>
          </a:prstGeom>
          <a:solidFill>
            <a:srgbClr val="F1ECFB"/>
          </a:solidFill>
          <a:ln/>
        </p:spPr>
      </p:sp>
      <p:pic>
        <p:nvPicPr>
          <p:cNvPr id="18" name="Image 0" descr="/home/claude/aient/icon_gamin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2548" y="1001268"/>
            <a:ext cx="329184" cy="32918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Recommendations: the engine underneath it all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"For You" feed above is powered by the same core pipeline.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1E1836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signals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Clicks, watch time, skips, pauses and ratings are logged per user.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3186684" y="3803904"/>
            <a:ext cx="164592" cy="164592"/>
          </a:xfrm>
          <a:prstGeom prst="triangle">
            <a:avLst/>
          </a:prstGeom>
          <a:solidFill>
            <a:srgbClr val="FFC857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228600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1E1836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2514600"/>
            <a:ext cx="502920" cy="502920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32004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taste graph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37033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&amp; content-based filtering map users to similar tastes.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6021324" y="3803904"/>
            <a:ext cx="164592" cy="164592"/>
          </a:xfrm>
          <a:prstGeom prst="triangle">
            <a:avLst/>
          </a:prstGeom>
          <a:solidFill>
            <a:srgbClr val="FFC857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228600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1E1836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2514600"/>
            <a:ext cx="502920" cy="502920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6520" y="32004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candidates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37033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scores thousands of items for relevance and predicted engagement.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5400000">
            <a:off x="8855964" y="3803904"/>
            <a:ext cx="164592" cy="164592"/>
          </a:xfrm>
          <a:prstGeom prst="triangle">
            <a:avLst/>
          </a:prstGeom>
          <a:solidFill>
            <a:srgbClr val="FFC857"/>
          </a:solidFill>
          <a:ln/>
        </p:spPr>
      </p:sp>
      <p:sp>
        <p:nvSpPr>
          <p:cNvPr id="23" name="Shape 21"/>
          <p:cNvSpPr/>
          <p:nvPr/>
        </p:nvSpPr>
        <p:spPr>
          <a:xfrm>
            <a:off x="9052560" y="2286000"/>
            <a:ext cx="2606040" cy="3200400"/>
          </a:xfrm>
          <a:prstGeom prst="roundRect">
            <a:avLst>
              <a:gd name="adj" fmla="val 3158"/>
            </a:avLst>
          </a:prstGeom>
          <a:solidFill>
            <a:srgbClr val="1E1836"/>
          </a:solidFill>
          <a:ln/>
        </p:spPr>
      </p:sp>
      <p:sp>
        <p:nvSpPr>
          <p:cNvPr id="24" name="Shape 22"/>
          <p:cNvSpPr/>
          <p:nvPr/>
        </p:nvSpPr>
        <p:spPr>
          <a:xfrm>
            <a:off x="9281160" y="2514600"/>
            <a:ext cx="502920" cy="502920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5" name="Text 23"/>
          <p:cNvSpPr/>
          <p:nvPr/>
        </p:nvSpPr>
        <p:spPr>
          <a:xfrm>
            <a:off x="928116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81160" y="32004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&amp; learn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81160" y="37033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 updates live, and each interaction retrains the model.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7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at scale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personalization doesn’t just feel convenient — it reshapes how the entire industry operates.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A1B4D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1620" y="2606040"/>
            <a:ext cx="640080" cy="640080"/>
          </a:xfrm>
          <a:prstGeom prst="ellipse">
            <a:avLst/>
          </a:prstGeom>
          <a:solidFill>
            <a:srgbClr val="F1ECFB"/>
          </a:solidFill>
          <a:ln/>
        </p:spPr>
      </p:sp>
      <p:pic>
        <p:nvPicPr>
          <p:cNvPr id="7" name="Image 0" descr="/home/claude/aient/icon_char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041" y="27724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4747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Majority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777240" y="42062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streaming engagement is estimated to be influenced by algorithmic recommendations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83280" y="233172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A1B4D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66260" y="2606040"/>
            <a:ext cx="640080" cy="640080"/>
          </a:xfrm>
          <a:prstGeom prst="ellipse">
            <a:avLst/>
          </a:prstGeom>
          <a:solidFill>
            <a:srgbClr val="F1ECFB"/>
          </a:solidFill>
          <a:ln/>
        </p:spPr>
      </p:sp>
      <p:pic>
        <p:nvPicPr>
          <p:cNvPr id="12" name="Image 1" descr="/home/claude/aient/icon_youtube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681" y="277246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4747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Billions</a:t>
            </a:r>
            <a:endParaRPr lang="en-US" sz="2700" dirty="0"/>
          </a:p>
        </p:txBody>
      </p:sp>
      <p:sp>
        <p:nvSpPr>
          <p:cNvPr id="14" name="Text 10"/>
          <p:cNvSpPr/>
          <p:nvPr/>
        </p:nvSpPr>
        <p:spPr>
          <a:xfrm>
            <a:off x="3611880" y="42062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hours of video are watched daily across AI-curated platforms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17920" y="233172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A1B4D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00900" y="2606040"/>
            <a:ext cx="640080" cy="640080"/>
          </a:xfrm>
          <a:prstGeom prst="ellipse">
            <a:avLst/>
          </a:prstGeom>
          <a:solidFill>
            <a:srgbClr val="F1ECFB"/>
          </a:solidFill>
          <a:ln/>
        </p:spPr>
      </p:sp>
      <p:pic>
        <p:nvPicPr>
          <p:cNvPr id="17" name="Image 2" descr="/home/claude/aient/icon_netflix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321" y="277246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34747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2700" dirty="0"/>
          </a:p>
        </p:txBody>
      </p:sp>
      <p:sp>
        <p:nvSpPr>
          <p:cNvPr id="19" name="Text 14"/>
          <p:cNvSpPr/>
          <p:nvPr/>
        </p:nvSpPr>
        <p:spPr>
          <a:xfrm>
            <a:off x="6446520" y="42062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retention savings are attributed to personalization by major streamers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52560" y="233172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2A1B4D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35540" y="2606040"/>
            <a:ext cx="640080" cy="640080"/>
          </a:xfrm>
          <a:prstGeom prst="ellipse">
            <a:avLst/>
          </a:prstGeom>
          <a:solidFill>
            <a:srgbClr val="F1ECFB"/>
          </a:solidFill>
          <a:ln/>
        </p:spPr>
      </p:sp>
      <p:pic>
        <p:nvPicPr>
          <p:cNvPr id="22" name="Image 3" descr="/home/claude/aient/icon_gaming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1961" y="277246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9720" y="34747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4D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2700" dirty="0"/>
          </a:p>
        </p:txBody>
      </p:sp>
      <p:sp>
        <p:nvSpPr>
          <p:cNvPr id="24" name="Text 18"/>
          <p:cNvSpPr/>
          <p:nvPr/>
        </p:nvSpPr>
        <p:spPr>
          <a:xfrm>
            <a:off x="9281160" y="42062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and content tuning are now standard in major game engines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7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tradeoffs worth watching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1E183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6" name="Image 0" descr="/home/claude/aient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1881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116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bubbles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395728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personalization can narrow exposure to new genres, artists or viewpoints.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080760" y="182880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1E1836"/>
          </a:solidFill>
          <a:ln/>
        </p:spPr>
      </p:sp>
      <p:sp>
        <p:nvSpPr>
          <p:cNvPr id="10" name="Shape 7"/>
          <p:cNvSpPr/>
          <p:nvPr/>
        </p:nvSpPr>
        <p:spPr>
          <a:xfrm>
            <a:off x="6309360" y="2057400"/>
            <a:ext cx="502920" cy="502920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11" name="Image 1" descr="/home/claude/aient/icon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119" y="21881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20116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949440" y="2395728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behavioral tracking raises consent and transparency questions.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1E1836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16" name="Image 2" descr="/home/claude/aient/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397123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7947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homogenization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17320" y="4178808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purely for engagement can push content toward safe, formulaic patterns.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080760" y="3611880"/>
            <a:ext cx="5257800" cy="1508760"/>
          </a:xfrm>
          <a:prstGeom prst="roundRect">
            <a:avLst>
              <a:gd name="adj" fmla="val 5455"/>
            </a:avLst>
          </a:prstGeom>
          <a:solidFill>
            <a:srgbClr val="1E1836"/>
          </a:solidFill>
          <a:ln/>
        </p:spPr>
      </p:sp>
      <p:sp>
        <p:nvSpPr>
          <p:cNvPr id="20" name="Shape 15"/>
          <p:cNvSpPr/>
          <p:nvPr/>
        </p:nvSpPr>
        <p:spPr>
          <a:xfrm>
            <a:off x="6309360" y="3840480"/>
            <a:ext cx="502920" cy="502920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21" name="Image 3" descr="/home/claude/aient/icon_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119" y="397123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37947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949440" y="4178808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historical data can amplify existing gaps in visibility.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1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5486400" cy="5486400"/>
          </a:xfrm>
          <a:prstGeom prst="ellipse">
            <a:avLst/>
          </a:prstGeom>
          <a:solidFill>
            <a:srgbClr val="2A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114800"/>
            <a:ext cx="3840480" cy="3840480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4" name="Text 2"/>
          <p:cNvSpPr/>
          <p:nvPr/>
        </p:nvSpPr>
        <p:spPr>
          <a:xfrm>
            <a:off x="333756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23774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7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Entertainment is becoming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7F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AI-native industry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920240" y="379476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what you watch to how a game reacts to you, AI has moved from a backend feature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core product experience — and platforms that personalize best keep audiences longest.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845052" y="5029200"/>
            <a:ext cx="658368" cy="658368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8" name="Image 0" descr="/home/claude/aient/icon_netfl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6228" y="5200376"/>
            <a:ext cx="316017" cy="31601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05172" y="5029200"/>
            <a:ext cx="658368" cy="658368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10" name="Image 1" descr="/home/claude/aient/icon_youtu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348" y="5200376"/>
            <a:ext cx="316017" cy="31601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65292" y="5029200"/>
            <a:ext cx="658368" cy="658368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12" name="Image 2" descr="/home/claude/aient/icon_spotif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468" y="5200376"/>
            <a:ext cx="316017" cy="31601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725412" y="5029200"/>
            <a:ext cx="658368" cy="658368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14" name="Image 3" descr="/home/claude/aient/icon_gam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588" y="5200376"/>
            <a:ext cx="316017" cy="316017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685532" y="5029200"/>
            <a:ext cx="658368" cy="658368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16" name="Image 4" descr="/home/claude/aient/icon_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6708" y="5200376"/>
            <a:ext cx="316017" cy="31601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19456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11475720" y="647395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9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2026-08-07T08:04:47Z</dcterms:created>
  <dcterms:modified xsi:type="dcterms:W3CDTF">2026-08-07T08:04:47Z</dcterms:modified>
</cp:coreProperties>
</file>